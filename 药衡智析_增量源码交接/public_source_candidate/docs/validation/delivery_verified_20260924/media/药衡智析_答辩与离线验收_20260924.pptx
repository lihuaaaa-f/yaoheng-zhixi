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28d40e4ee44a06" /><Relationship Type="http://schemas.openxmlformats.org/officeDocument/2006/relationships/extended-properties" Target="/docProps/app.xml" Id="Rfb246406b0ad4489" /><Relationship Type="http://schemas.openxmlformats.org/officeDocument/2006/relationships/officeDocument" Target="/ppt/presentation.xml" Id="R99d4e52ee74b43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759ae0b7b74a8f"/>
  </p:sldMasterIdLst>
  <p:notesMasterIdLst>
    <p:notesMasterId xmlns:r="http://schemas.openxmlformats.org/officeDocument/2006/relationships" r:id="Rabb47e4287f34c92"/>
  </p:notesMasterIdLst>
  <p:sldIdLst>
    <p:sldId xmlns:r="http://schemas.openxmlformats.org/officeDocument/2006/relationships" id="256" r:id="R0f721ca3dfb34d95"/>
    <p:sldId xmlns:r="http://schemas.openxmlformats.org/officeDocument/2006/relationships" id="257" r:id="R7e89f714910142ed"/>
    <p:sldId xmlns:r="http://schemas.openxmlformats.org/officeDocument/2006/relationships" id="258" r:id="R6334e4c38c1b460d"/>
    <p:sldId xmlns:r="http://schemas.openxmlformats.org/officeDocument/2006/relationships" id="259" r:id="R8771256a34754f07"/>
    <p:sldId xmlns:r="http://schemas.openxmlformats.org/officeDocument/2006/relationships" id="260" r:id="R364b14c97f254459"/>
    <p:sldId xmlns:r="http://schemas.openxmlformats.org/officeDocument/2006/relationships" id="261" r:id="R805933e881834456"/>
    <p:sldId xmlns:r="http://schemas.openxmlformats.org/officeDocument/2006/relationships" id="262" r:id="Ra35060383f88436f"/>
    <p:sldId xmlns:r="http://schemas.openxmlformats.org/officeDocument/2006/relationships" id="263" r:id="R3e88a8c51423437c"/>
    <p:sldId xmlns:r="http://schemas.openxmlformats.org/officeDocument/2006/relationships" id="264" r:id="R82ec91ded62e4f06"/>
    <p:sldId xmlns:r="http://schemas.openxmlformats.org/officeDocument/2006/relationships" id="265" r:id="R7924b9b080fc4140"/>
  </p:sldIdLst>
  <p:sldSz cx="12188952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2aa7643245476c" /><Relationship Type="http://schemas.openxmlformats.org/officeDocument/2006/relationships/slideMaster" Target="/ppt/slideMasters/slideMaster1.xml" Id="Rd1759ae0b7b74a8f" /><Relationship Type="http://schemas.openxmlformats.org/officeDocument/2006/relationships/notesMaster" Target="/ppt/notesMasters/notesMaster1.xml" Id="Rabb47e4287f34c92" /><Relationship Type="http://schemas.openxmlformats.org/officeDocument/2006/relationships/presProps" Target="/ppt/presProps.xml" Id="R158443eafc054caa" /><Relationship Type="http://schemas.openxmlformats.org/officeDocument/2006/relationships/tableStyles" Target="/ppt/tableStyles.xml" Id="Rf9e7e4650d18492a" /><Relationship Type="http://schemas.openxmlformats.org/officeDocument/2006/relationships/slide" Target="/ppt/slides/slide1.xml" Id="R0f721ca3dfb34d95" /><Relationship Type="http://schemas.openxmlformats.org/officeDocument/2006/relationships/slide" Target="/ppt/slides/slide2.xml" Id="R7e89f714910142ed" /><Relationship Type="http://schemas.openxmlformats.org/officeDocument/2006/relationships/slide" Target="/ppt/slides/slide3.xml" Id="R6334e4c38c1b460d" /><Relationship Type="http://schemas.openxmlformats.org/officeDocument/2006/relationships/slide" Target="/ppt/slides/slide4.xml" Id="R8771256a34754f07" /><Relationship Type="http://schemas.openxmlformats.org/officeDocument/2006/relationships/slide" Target="/ppt/slides/slide5.xml" Id="R364b14c97f254459" /><Relationship Type="http://schemas.openxmlformats.org/officeDocument/2006/relationships/slide" Target="/ppt/slides/slide6.xml" Id="R805933e881834456" /><Relationship Type="http://schemas.openxmlformats.org/officeDocument/2006/relationships/slide" Target="/ppt/slides/slide7.xml" Id="Ra35060383f88436f" /><Relationship Type="http://schemas.openxmlformats.org/officeDocument/2006/relationships/slide" Target="/ppt/slides/slide8.xml" Id="R3e88a8c51423437c" /><Relationship Type="http://schemas.openxmlformats.org/officeDocument/2006/relationships/slide" Target="/ppt/slides/slide9.xml" Id="R82ec91ded62e4f06" /><Relationship Type="http://schemas.openxmlformats.org/officeDocument/2006/relationships/slide" Target="/ppt/slides/slide10.xml" Id="R7924b9b080fc41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b5eda4bc5942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dd9c04de2b4126" /><Relationship Type="http://schemas.openxmlformats.org/officeDocument/2006/relationships/notesMaster" Target="/ppt/notesMasters/notesMaster1.xml" Id="R25dc6a8bc6d54e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e31809091a4c06" /><Relationship Type="http://schemas.openxmlformats.org/officeDocument/2006/relationships/notesMaster" Target="/ppt/notesMasters/notesMaster1.xml" Id="Rf5a042c2b4c841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ed742b20db437a" /><Relationship Type="http://schemas.openxmlformats.org/officeDocument/2006/relationships/notesMaster" Target="/ppt/notesMasters/notesMaster1.xml" Id="R70b649c00b1848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3032bb1b2d4e8a" /><Relationship Type="http://schemas.openxmlformats.org/officeDocument/2006/relationships/notesMaster" Target="/ppt/notesMasters/notesMaster1.xml" Id="R1f099fae847342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89fb91113f405a" /><Relationship Type="http://schemas.openxmlformats.org/officeDocument/2006/relationships/notesMaster" Target="/ppt/notesMasters/notesMaster1.xml" Id="R58de509e2e7944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aea52038a6425a" /><Relationship Type="http://schemas.openxmlformats.org/officeDocument/2006/relationships/notesMaster" Target="/ppt/notesMasters/notesMaster1.xml" Id="Rabd273bf2d764a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d11bbcdf7940f6" /><Relationship Type="http://schemas.openxmlformats.org/officeDocument/2006/relationships/notesMaster" Target="/ppt/notesMasters/notesMaster1.xml" Id="Rd5ce907b7eae44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5e93b5811043ef" /><Relationship Type="http://schemas.openxmlformats.org/officeDocument/2006/relationships/notesMaster" Target="/ppt/notesMasters/notesMaster1.xml" Id="Rd71f0c615fa746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ba8e314e9b4d79" /><Relationship Type="http://schemas.openxmlformats.org/officeDocument/2006/relationships/notesMaster" Target="/ppt/notesMasters/notesMaster1.xml" Id="R996f58c664e543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5343dffc204235" /><Relationship Type="http://schemas.openxmlformats.org/officeDocument/2006/relationships/notesMaster" Target="/ppt/notesMasters/notesMaster1.xml" Id="R2f3ab53540b14f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本轮受测源码 commit 2087978854a7b091191aba94568418d6730204d3。</a:t>
            </a:r>
          </a:p>
          <a:p xmlns:a="http://schemas.openxmlformats.org/drawingml/2006/main">
            <a:r>
              <a:t>来源：acceptance_delivery_evidence/manifest.json。run_id=delivery_verified_20260924，attempt_id=b4384b62727447fa8941c6e55235660a。</a:t>
            </a:r>
          </a:p>
          <a:p xmlns:a="http://schemas.openxmlformats.org/drawingml/2006/main">
            <a:r>
              <a:t>本稿说明本轮可复核的离线成果，不宣称比赛整体验收完成。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赛题模块映射来源：public_source_candidate/README.md 功能总览。</a:t>
            </a:r>
          </a:p>
          <a:p xmlns:a="http://schemas.openxmlformats.org/drawingml/2006/main">
            <a:r>
              <a:t>截图：frontend_qa/merged-final-smoke/smoke/analysis-1366.png。仅用于展示当前界面，不作为四场景报告数值的替代证据。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来源：public_source_candidate/README.md，05_原型/backend/pharma/reports.py、metrics.py、actions.py；acceptance_delivery_evidence/model_live.json 与 retrieval.json。</a:t>
            </a:r>
          </a:p>
          <a:p xmlns:a="http://schemas.openxmlformats.org/drawingml/2006/main">
            <a:r>
              <a:t>框架回执为 llama-index-core BaseRetriever/TextNode。本轮没有成功的真实模型响应。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ata_verify/official_independent/independent_official_csv_receipt.json。numeric_checks=2160，max_absolute_error=0，max_relative_error=0，10个上传文件、32项来源规格检查。未提供官方标准答案，核对依据为题包CSV原始单元格的独立Decimal运算。</a:t>
            </a:r>
          </a:p>
          <a:p xmlns:a="http://schemas.openxmlformats.org/drawingml/2006/main">
            <a:r>
              <a:t>截图：frontend_qa/merged-final-smoke/smoke/business-1366.png。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来源：acceptance_delivery_evidence/retrieval.json：四场景 mode=hybrid，recall_status=RECALLED，count=8，status=DEGRADED，整体验收status=FAIL。</a:t>
            </a:r>
          </a:p>
          <a:p xmlns:a="http://schemas.openxmlformats.org/drawingml/2006/main">
            <a:r>
              <a:t>图谱及多模型路由为实现能力，本稿不借历史回执宣称本轮效果。</a:t>
            </a:r>
          </a:p>
          <a:p xmlns:a="http://schemas.openxmlformats.org/drawingml/2006/main">
            <a:r>
              <a:t>截图：frontend_qa/merged-final-smoke/smoke/knowledge-1366.png。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来源：report_visual_final/visual_delivery.json、visual_release.json、delivery_equivalence.json。S1 16页、S2 16页、S3 18页、Q2 16页，共66页。8类视觉问题已修复。</a:t>
            </a:r>
          </a:p>
          <a:p xmlns:a="http://schemas.openxmlformats.org/drawingml/2006/main">
            <a:r>
              <a:t>最终交付与已直接检查的release版本，DOCX所有ZIP内容相同，PDF66页正文及144DPI像素相同。</a:t>
            </a:r>
          </a:p>
          <a:p xmlns:a="http://schemas.openxmlformats.org/drawingml/2006/main">
            <a:r>
              <a:t>开发者视觉QA不是真人0—5分评审，human_review_status=PENDING。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 对标三步法，data_verify/official_independent/independent_official_csv_receipt.json，second_factory_detail=Unavailable in original supplied data; no fabricated detail。</a:t>
            </a:r>
          </a:p>
          <a:p xmlns:a="http://schemas.openxmlformats.org/drawingml/2006/main">
            <a:r>
              <a:t>截图：frontend_qa/merged-final-smoke/smoke/benchmark-1366.png。画面为2026-06六味地黄胶囊，展示对标交互，不替代S3的2026-03场景。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来源：acceptance_delivery_evidence/rpa.json，四场景status=PASS，notification=SIMULATED_SENT，human_acknowledgement=NOT_ENTERED。回执记录confirmed_payload_hash与receipt_sha256。</a:t>
            </a:r>
          </a:p>
          <a:p xmlns:a="http://schemas.openxmlformats.org/drawingml/2006/main">
            <a:r>
              <a:t>截图：frontend_qa/merged-final-smoke/smoke/actions-1366.png。该截图为导航测试的空工作区，4/4结果以正式回执为准。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来源：regression_release.log（601 passed, 1 skipped, 2 warnings）；verification_delivery.log；acceptance_delivery_evidence/manifest.json与browser.json；report_visual_final/visual_delivery.json。</a:t>
            </a:r>
          </a:p>
          <a:p xmlns:a="http://schemas.openxmlformats.org/drawingml/2006/main">
            <a:r>
              <a:t>本页受测版本2087978，离线回归不包含已通过真实模型与向量检索的声明。跳过项原因详见回归日志。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来源：acceptance_delivery_evidence/manifest.json（human_review=PENDING，competition_ready=false），model_live.json（MODEL_KEY_NOT_SET，model_live=false），retrieval.json（DEGRADED）。</a:t>
            </a:r>
          </a:p>
          <a:p xmlns:a="http://schemas.openxmlformats.org/drawingml/2006/main">
            <a:r>
              <a:t>截图：frontend_qa/acceptance_delivery-browser/S1-downloads.png，保留文件打开与计算通过、模型实际参与未通过、真人待评的界面状态。</a:t>
            </a:r>
          </a:p>
          <a:p xmlns:a="http://schemas.openxmlformats.org/drawingml/2006/main">
            <a:r>
              <a:t>提交前需要真实模型与向量回执及真人署名评分。本稿不回填真人分数。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384efacb44c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49e9ed92204c11" /><Relationship Type="http://schemas.openxmlformats.org/officeDocument/2006/relationships/slideLayout" Target="/ppt/slideLayouts/slideLayout1.xml" Id="R2f03f9f907c245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03f9f907c245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887b7505a4ecd" /><Relationship Type="http://schemas.openxmlformats.org/officeDocument/2006/relationships/notesSlide" Target="/ppt/notesSlides/notesSlide1.xml" Id="Rf8b080acdfde4f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10621536a4c46" /><Relationship Type="http://schemas.openxmlformats.org/officeDocument/2006/relationships/image" Target="/ppt/media/image.png" Id="R5913fe6a71e14d8e" /><Relationship Type="http://schemas.openxmlformats.org/officeDocument/2006/relationships/notesSlide" Target="/ppt/notesSlides/notesSlide2.xml" Id="R178982527a2649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5a78ac5ea4b47" /><Relationship Type="http://schemas.openxmlformats.org/officeDocument/2006/relationships/notesSlide" Target="/ppt/notesSlides/notesSlide3.xml" Id="R4d3f3bb42e334a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1bd0a58564882" /><Relationship Type="http://schemas.openxmlformats.org/officeDocument/2006/relationships/image" Target="/ppt/media/image2.png" Id="R4af75abfb7714c00" /><Relationship Type="http://schemas.openxmlformats.org/officeDocument/2006/relationships/notesSlide" Target="/ppt/notesSlides/notesSlide4.xml" Id="R0767a524da594a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b63989d6849b5" /><Relationship Type="http://schemas.openxmlformats.org/officeDocument/2006/relationships/image" Target="/ppt/media/image3.png" Id="Rf1c1998fd9d04688" /><Relationship Type="http://schemas.openxmlformats.org/officeDocument/2006/relationships/notesSlide" Target="/ppt/notesSlides/notesSlide5.xml" Id="R9c45abe3821c48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b2ae12e0c4cfc" /><Relationship Type="http://schemas.openxmlformats.org/officeDocument/2006/relationships/image" Target="/ppt/media/image4.png" Id="Rba13048afd6b4fbc" /><Relationship Type="http://schemas.openxmlformats.org/officeDocument/2006/relationships/notesSlide" Target="/ppt/notesSlides/notesSlide6.xml" Id="R1cb6cafa3e1346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cb5f509574963" /><Relationship Type="http://schemas.openxmlformats.org/officeDocument/2006/relationships/image" Target="/ppt/media/image5.png" Id="R066ae00f8a724e4b" /><Relationship Type="http://schemas.openxmlformats.org/officeDocument/2006/relationships/notesSlide" Target="/ppt/notesSlides/notesSlide7.xml" Id="R8cb1c36cdfec4a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144d25e2a484d" /><Relationship Type="http://schemas.openxmlformats.org/officeDocument/2006/relationships/image" Target="/ppt/media/image6.png" Id="Rf59b0c808b5f4903" /><Relationship Type="http://schemas.openxmlformats.org/officeDocument/2006/relationships/notesSlide" Target="/ppt/notesSlides/notesSlide8.xml" Id="R894c95240f8b48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f32fe66fa4c22" /><Relationship Type="http://schemas.openxmlformats.org/officeDocument/2006/relationships/notesSlide" Target="/ppt/notesSlides/notesSlide9.xml" Id="R686703c0f1ac4d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02c8d986645bd" /><Relationship Type="http://schemas.openxmlformats.org/officeDocument/2006/relationships/image" Target="/ppt/media/image7.png" Id="R5329281b3d7341b2" /><Relationship Type="http://schemas.openxmlformats.org/officeDocument/2006/relationships/notesSlide" Target="/ppt/notesSlides/notesSlide10.xml" Id="R69c9fe3a6a8c43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2EE8C-1A08-4383-84B5-8DB2A9CD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药衡智析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A1172-43E0-4E94-8C8D-5E1E5802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67A45-EFC0-45A9-A71B-0A9CA20E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38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产品成本智能分析报告系统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170C6-BF15-4F98-9246-BC9AE172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制药赛题答辩与本轮离线验收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EACE6-BE37-49EF-8D30-AB60E4D5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2026 年 9 月 24 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924EB-F9CE-4C69-BDFD-A1DBA714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当前状态：离线链路可复核，真实模型、向量检索和真人评审待验</a:t>
            </a:r>
          </a:p>
        </p:txBody>
      </p:sp>
    </p:spTree>
    <p:extLst>
      <p:ext uri="{BB962C8B-B14F-4D97-AF65-F5344CB8AC3E}">
        <p14:creationId xmlns:p14="http://schemas.microsoft.com/office/powerpoint/2010/main" val="423538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42652-80DA-41B4-B035-07DA1E0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赛题范围与当前工作台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A2A32-EF51-4214-8A4B-2F94C76D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74E69-6509-428B-8E06-17BD6878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895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智能报告：模板生成与双格式导出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A884E-EAA8-4CC8-9AF7-9BE1B2CD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895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成本分析：趋势、结构和异常归因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456E0-D26E-457F-B00A-D249CF7A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895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跨厂对标：找差异、拆结构、查原因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251A1-CF2E-48EC-B139-2AD2520D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3895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问题整改：任务确认与模拟送达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3fe6a71e14d8e"/>
          <a:stretch xmlns:a="http://schemas.openxmlformats.org/drawingml/2006/main"/>
        </p:blipFill>
        <p:spPr>
          <a:xfrm xmlns:a="http://schemas.openxmlformats.org/drawingml/2006/main">
            <a:off x="4648200" y="1560671"/>
            <a:ext cx="6934200" cy="389858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E7205-BE4F-4D07-B008-3BD35BC7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48325"/>
            <a:ext cx="693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界面示例：六味地黄胶囊 2026-06，单位成本口径</a:t>
            </a:r>
          </a:p>
        </p:txBody>
      </p:sp>
    </p:spTree>
    <p:extLst>
      <p:ext uri="{BB962C8B-B14F-4D97-AF65-F5344CB8AC3E}">
        <p14:creationId xmlns:p14="http://schemas.microsoft.com/office/powerpoint/2010/main" val="24432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38A2F-11F3-4550-BA61-68330F37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实现架构与计算职责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3D714-B270-4D32-888C-7E20411D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90700"/>
                <a:gridCol w="3476625"/>
                <a:gridCol w="5705475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层次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实现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承担的职责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交互工作台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React + ECharts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数据导入、分析、报告与整改操作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服务与任务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FastAPI + worker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校验输入，执行分析及异步报告任务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数值计算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Decimal 成本引擎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程序计算金额、差异、贡献度与比较口径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证据与解释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LlamaIndex 检索 + 模型网关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追溯文档位置，校验模型解释与证据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文件与行动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Word/PDF + 任务 outbox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保存报告、确认载荷与模拟通知回执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DB4EF-E20D-4078-BFD8-A0FD9447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本轮运行使用规则解释与词法检索降级，数值结果仍由程序计算</a:t>
            </a:r>
          </a:p>
        </p:txBody>
      </p:sp>
    </p:spTree>
    <p:extLst>
      <p:ext uri="{BB962C8B-B14F-4D97-AF65-F5344CB8AC3E}">
        <p14:creationId xmlns:p14="http://schemas.microsoft.com/office/powerpoint/2010/main" val="1526997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FEBD6-48DB-4E0C-9A0B-B1F4A711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数据口径与独立核对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3CCFE-B872-4239-891F-F7FCC10E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4F09B-8E98-42A0-93FA-46565A57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4875" b="1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2,160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ED2C4-CB8A-463C-96FE-107AA404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8385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项独立数值核对，最大误差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7A8C2-6E9B-49E4-8E77-143C8580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直接读取题包 CSV 原始单元格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DE7BA-82B4-4666-9FEC-E302ACAD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同时核对原题包与累计上传路径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8D72A-2657-45BF-83FE-0C1F639F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季度单位成本按产量加权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E8B4D-A094-4361-AAA3-28B91BC1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缺失数据和零分母保留无定义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75abfb7714c00"/>
          <a:stretch xmlns:a="http://schemas.openxmlformats.org/drawingml/2006/main"/>
        </p:blipFill>
        <p:spPr>
          <a:xfrm xmlns:a="http://schemas.openxmlformats.org/drawingml/2006/main">
            <a:off x="4686300" y="1580906"/>
            <a:ext cx="6896100" cy="387716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13A6D-7DDD-426C-AFCE-20E7E67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29275"/>
            <a:ext cx="689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独立复算覆盖 4 场景、单位与总额口径</a:t>
            </a:r>
          </a:p>
        </p:txBody>
      </p:sp>
    </p:spTree>
    <p:extLst>
      <p:ext uri="{BB962C8B-B14F-4D97-AF65-F5344CB8AC3E}">
        <p14:creationId xmlns:p14="http://schemas.microsoft.com/office/powerpoint/2010/main" val="12010939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7D8EB-8065-46A1-B3A5-45D82543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RAG 证据与本轮检索状态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91629-7903-4370-A9F0-7C6C996F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2DAC2-9AFC-4CA0-96A1-6542DAD1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9909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引用保留文档名、章节与页码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A67CE-4CC7-4833-83D1-6E309128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9909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四个场景各召回 8 条候选证据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A69DF-891E-417B-9D93-848B4ACD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9909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候选召回后再核对产品与期间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55163-AF86-481D-A0A4-561D54A5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9909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当前缺本地向量模型配置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B3856-A162-464A-8644-78D062D9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9909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混合检索回执为 DEGRADED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1998fd9d04688"/>
          <a:stretch xmlns:a="http://schemas.openxmlformats.org/drawingml/2006/main"/>
        </p:blipFill>
        <p:spPr>
          <a:xfrm xmlns:a="http://schemas.openxmlformats.org/drawingml/2006/main">
            <a:off x="4791075" y="1577022"/>
            <a:ext cx="6791325" cy="38182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23A47-4386-4E06-B595-5F3EE47A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10225"/>
            <a:ext cx="67913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真实向量检索与重排效果仍需补验</a:t>
            </a:r>
          </a:p>
        </p:txBody>
      </p:sp>
    </p:spTree>
    <p:extLst>
      <p:ext uri="{BB962C8B-B14F-4D97-AF65-F5344CB8AC3E}">
        <p14:creationId xmlns:p14="http://schemas.microsoft.com/office/powerpoint/2010/main" val="831004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7DB0E-B776-4A0D-A616-0E0A5ED9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模板报告与导出质量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EB05B-C2D8-44E3-936C-D1C017C8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3781F-56BB-495A-8B42-A16706BC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6819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4 个场景生成 8 份 Word/PDF 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EF5EA-E241-49CA-A92B-2280D62C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819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保留封面、文档控制、阅读指南和水印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3EDEF-7D45-4005-8B1A-167C26F6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6819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66 页完成开发者逐页视觉检查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B1D2D-1979-433E-8642-A773300B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819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已修复孤立标题、断图题和文本截断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13712-2069-4321-9293-6DC8A79B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6819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负向图标签、季度口径和表格分页已核对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3048afd6b4fbc"/>
          <a:stretch xmlns:a="http://schemas.openxmlformats.org/drawingml/2006/main"/>
        </p:blipFill>
        <p:spPr>
          <a:xfrm xmlns:a="http://schemas.openxmlformats.org/drawingml/2006/main">
            <a:off x="8087129" y="1314450"/>
            <a:ext cx="3361516" cy="47529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07D40-A345-4E74-A990-3DD44FD3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086475"/>
            <a:ext cx="3362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报告实页</a:t>
            </a:r>
          </a:p>
        </p:txBody>
      </p:sp>
    </p:spTree>
    <p:extLst>
      <p:ext uri="{BB962C8B-B14F-4D97-AF65-F5344CB8AC3E}">
        <p14:creationId xmlns:p14="http://schemas.microsoft.com/office/powerpoint/2010/main" val="8347856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75954-E5DF-40EE-9024-5C04B46A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跨厂对标三步法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A8F0B-3EEB-4E22-A148-43EAC18A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1BA16-BC15-496F-BC40-7445A6BF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0290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差异总览：确认比较双方与分母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75BE5-CA3F-462B-B574-98924DB3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0290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结构拆解：分离材料、人工和制造费用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B5FCD-A2DD-4CBB-BCD5-292AFA67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40290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原因核查：回到批次、工时与分摊证据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97E59-56AF-4F8F-BBEA-C20DA6FF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4019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题包缺少二厂原料明细，界面与报告保留缺证说明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ae00f8a724e4b"/>
          <a:stretch xmlns:a="http://schemas.openxmlformats.org/drawingml/2006/main"/>
        </p:blipFill>
        <p:spPr>
          <a:xfrm xmlns:a="http://schemas.openxmlformats.org/drawingml/2006/main">
            <a:off x="4800600" y="1589225"/>
            <a:ext cx="6781800" cy="381290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A1D0F-071F-4401-9EFA-11F1FFEA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638800"/>
            <a:ext cx="678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差额与差异率使用相同产品、规格和期间</a:t>
            </a:r>
          </a:p>
        </p:txBody>
      </p:sp>
    </p:spTree>
    <p:extLst>
      <p:ext uri="{BB962C8B-B14F-4D97-AF65-F5344CB8AC3E}">
        <p14:creationId xmlns:p14="http://schemas.microsoft.com/office/powerpoint/2010/main" val="18285731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47AD3-F0B7-46ED-955F-B427B959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整改任务与模拟 RPA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1AD2B-F0DF-4B9E-BF1F-41F04CEB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9AECE-7FAA-493B-A716-EDFE43DF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905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4725" b="1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4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4BC9C-4C4B-43B0-9D73-0A030220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场景模拟送达通过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5A696-2D05-491F-A6FA-C3CC4945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4057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报告建议转为结构化任务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CEF22-8ED4-46B1-9AF3-636C9475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057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用户确认负责人、行动与收件人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6208A-E345-4CD0-A177-196A8596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4057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按确认载荷核对通知回执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01911-9BB4-4A00-B595-B67031E6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057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责任人确认与整改完成仍待实际登记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b0c808b5f4903"/>
          <a:stretch xmlns:a="http://schemas.openxmlformats.org/drawingml/2006/main"/>
        </p:blipFill>
        <p:spPr>
          <a:xfrm xmlns:a="http://schemas.openxmlformats.org/drawingml/2006/main">
            <a:off x="4876800" y="1615408"/>
            <a:ext cx="6705600" cy="377005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8EA6E-7E84-4C32-80D3-A24DE3DA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38800"/>
            <a:ext cx="670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本轮仅模拟通知，没有发送真实微信</a:t>
            </a:r>
          </a:p>
        </p:txBody>
      </p:sp>
    </p:spTree>
    <p:extLst>
      <p:ext uri="{BB962C8B-B14F-4D97-AF65-F5344CB8AC3E}">
        <p14:creationId xmlns:p14="http://schemas.microsoft.com/office/powerpoint/2010/main" val="14081034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2DC60-ED04-4497-B621-D64901B7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本轮实测结果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C5CD4-E164-45F2-93E8-4DBB5869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AC34F-896F-49B1-AFD5-AAE6BD20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601 项通过，1 项跳过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604A6-504A-4D2D-8585-51E6F373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28750"/>
            <a:ext cx="516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浏览器完成 4 场景、8 次文件下载核验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972800" cy="3114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43000"/>
                <a:gridCol w="2933700"/>
                <a:gridCol w="3295650"/>
                <a:gridCol w="2171700"/>
                <a:gridCol w="1428750"/>
              </a:tblGrid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场景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产品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期间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Word/PDF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页数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S1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银黄口服液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2026-05 月度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均通过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S2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板蓝根颗粒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2026-05 专项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均通过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S3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六味地黄胶囊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2026-03 月度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均通过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Q2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银黄口服液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2026-04 至 06 季度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均通过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12E4B-0D12-4085-BD0D-8687E1B1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四场景解释均为规则降级。文件通过与真人评审、模型效果分别验收</a:t>
            </a:r>
          </a:p>
        </p:txBody>
      </p:sp>
    </p:spTree>
    <p:extLst>
      <p:ext uri="{BB962C8B-B14F-4D97-AF65-F5344CB8AC3E}">
        <p14:creationId xmlns:p14="http://schemas.microsoft.com/office/powerpoint/2010/main" val="5968305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5EF2D-260A-4AB4-939F-5D3C607C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待验事项与现场演示顺序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E5EDA-0619-44C4-A7C3-A3C9AA1B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29F79-4A4F-469F-B1B5-F2DCF305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4752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真实模型：补配置并验证身份与解释覆盖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F7899-1902-4E12-A4A0-33186628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752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向量检索：加载本地模型后重跑四场景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F90BD-B416-4F46-946D-3ACC2805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4752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真人评审：专业归因、可读性和版式待评分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BC4D8-2584-473C-8266-A16DA1F5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7529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现场顺序</a:t>
            </a:r>
          </a:p>
          <a:p xmlns:a="http://schemas.openxmlformats.org/drawingml/2006/main">
            <a:pPr>
              <a:defRPr sz="1950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选择场景，核对指标和来源，下载报告，确认模拟任务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9281b3d7341b2"/>
          <a:stretch xmlns:a="http://schemas.openxmlformats.org/drawingml/2006/main"/>
        </p:blipFill>
        <p:spPr>
          <a:xfrm xmlns:a="http://schemas.openxmlformats.org/drawingml/2006/main">
            <a:off x="5600700" y="1790330"/>
            <a:ext cx="5981700" cy="336306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973F8-7350-4997-803B-D48DC4DD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48325"/>
            <a:ext cx="598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当前 competition_ready = false</a:t>
            </a:r>
          </a:p>
        </p:txBody>
      </p:sp>
    </p:spTree>
    <p:extLst>
      <p:ext uri="{BB962C8B-B14F-4D97-AF65-F5344CB8AC3E}">
        <p14:creationId xmlns:p14="http://schemas.microsoft.com/office/powerpoint/2010/main" val="12032628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2026-09-24T13:29:41.2560000Z</dcterms:created>
  <dcterms:modified xsi:type="dcterms:W3CDTF">2026-09-24T13:29:41.2560000Z</dcterms:modified>
</coreProperties>
</file>