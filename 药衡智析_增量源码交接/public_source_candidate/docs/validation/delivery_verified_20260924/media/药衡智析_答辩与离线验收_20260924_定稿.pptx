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1a9cda71e64c9a" /><Relationship Type="http://schemas.openxmlformats.org/officeDocument/2006/relationships/extended-properties" Target="/docProps/app.xml" Id="R37b1d91c5c134c84" /><Relationship Type="http://schemas.openxmlformats.org/officeDocument/2006/relationships/officeDocument" Target="/ppt/presentation.xml" Id="R06309a12f552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5fee9889024ea2"/>
  </p:sldMasterIdLst>
  <p:notesMasterIdLst>
    <p:notesMasterId xmlns:r="http://schemas.openxmlformats.org/officeDocument/2006/relationships" r:id="R7b852628b1994af6"/>
  </p:notesMasterIdLst>
  <p:sldIdLst>
    <p:sldId xmlns:r="http://schemas.openxmlformats.org/officeDocument/2006/relationships" id="256" r:id="R4a275f8ad4dc4d92"/>
    <p:sldId xmlns:r="http://schemas.openxmlformats.org/officeDocument/2006/relationships" id="257" r:id="R09f74ac4aa884059"/>
    <p:sldId xmlns:r="http://schemas.openxmlformats.org/officeDocument/2006/relationships" id="258" r:id="R9099a8c3e7944a1e"/>
    <p:sldId xmlns:r="http://schemas.openxmlformats.org/officeDocument/2006/relationships" id="259" r:id="R40fb527a8c8d48d6"/>
    <p:sldId xmlns:r="http://schemas.openxmlformats.org/officeDocument/2006/relationships" id="260" r:id="R514da0ee20bb4aab"/>
    <p:sldId xmlns:r="http://schemas.openxmlformats.org/officeDocument/2006/relationships" id="261" r:id="Rd51708cc2ac54485"/>
    <p:sldId xmlns:r="http://schemas.openxmlformats.org/officeDocument/2006/relationships" id="262" r:id="R4f461199045149b3"/>
    <p:sldId xmlns:r="http://schemas.openxmlformats.org/officeDocument/2006/relationships" id="263" r:id="R2afeeeeece8a42ae"/>
    <p:sldId xmlns:r="http://schemas.openxmlformats.org/officeDocument/2006/relationships" id="264" r:id="R6fb39926ae5046fc"/>
    <p:sldId xmlns:r="http://schemas.openxmlformats.org/officeDocument/2006/relationships" id="265" r:id="Rf1a8f4e6ff9a477f"/>
  </p:sldIdLst>
  <p:sldSz cx="1218895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7704bddd94460e" /><Relationship Type="http://schemas.openxmlformats.org/officeDocument/2006/relationships/slideMaster" Target="/ppt/slideMasters/slideMaster1.xml" Id="R2f5fee9889024ea2" /><Relationship Type="http://schemas.openxmlformats.org/officeDocument/2006/relationships/notesMaster" Target="/ppt/notesMasters/notesMaster1.xml" Id="R7b852628b1994af6" /><Relationship Type="http://schemas.openxmlformats.org/officeDocument/2006/relationships/presProps" Target="/ppt/presProps.xml" Id="R1e931e11045c465f" /><Relationship Type="http://schemas.openxmlformats.org/officeDocument/2006/relationships/tableStyles" Target="/ppt/tableStyles.xml" Id="Rabe907298bd94779" /><Relationship Type="http://schemas.openxmlformats.org/officeDocument/2006/relationships/slide" Target="/ppt/slides/slide1.xml" Id="R4a275f8ad4dc4d92" /><Relationship Type="http://schemas.openxmlformats.org/officeDocument/2006/relationships/slide" Target="/ppt/slides/slide2.xml" Id="R09f74ac4aa884059" /><Relationship Type="http://schemas.openxmlformats.org/officeDocument/2006/relationships/slide" Target="/ppt/slides/slide3.xml" Id="R9099a8c3e7944a1e" /><Relationship Type="http://schemas.openxmlformats.org/officeDocument/2006/relationships/slide" Target="/ppt/slides/slide4.xml" Id="R40fb527a8c8d48d6" /><Relationship Type="http://schemas.openxmlformats.org/officeDocument/2006/relationships/slide" Target="/ppt/slides/slide5.xml" Id="R514da0ee20bb4aab" /><Relationship Type="http://schemas.openxmlformats.org/officeDocument/2006/relationships/slide" Target="/ppt/slides/slide6.xml" Id="Rd51708cc2ac54485" /><Relationship Type="http://schemas.openxmlformats.org/officeDocument/2006/relationships/slide" Target="/ppt/slides/slide7.xml" Id="R4f461199045149b3" /><Relationship Type="http://schemas.openxmlformats.org/officeDocument/2006/relationships/slide" Target="/ppt/slides/slide8.xml" Id="R2afeeeeece8a42ae" /><Relationship Type="http://schemas.openxmlformats.org/officeDocument/2006/relationships/slide" Target="/ppt/slides/slide9.xml" Id="R6fb39926ae5046fc" /><Relationship Type="http://schemas.openxmlformats.org/officeDocument/2006/relationships/slide" Target="/ppt/slides/slide10.xml" Id="Rf1a8f4e6ff9a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b25e383e54e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b93606f7a54762" /><Relationship Type="http://schemas.openxmlformats.org/officeDocument/2006/relationships/notesMaster" Target="/ppt/notesMasters/notesMaster1.xml" Id="Rcf945f76402443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dfab4d91e549aa" /><Relationship Type="http://schemas.openxmlformats.org/officeDocument/2006/relationships/notesMaster" Target="/ppt/notesMasters/notesMaster1.xml" Id="R1e717b71192d47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bc60762f3241fa" /><Relationship Type="http://schemas.openxmlformats.org/officeDocument/2006/relationships/notesMaster" Target="/ppt/notesMasters/notesMaster1.xml" Id="R98a6af61f93b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52f73fbe14102" /><Relationship Type="http://schemas.openxmlformats.org/officeDocument/2006/relationships/notesMaster" Target="/ppt/notesMasters/notesMaster1.xml" Id="R25ccfd19efde47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5e77dd00f54e52" /><Relationship Type="http://schemas.openxmlformats.org/officeDocument/2006/relationships/notesMaster" Target="/ppt/notesMasters/notesMaster1.xml" Id="R6b2210ae92fd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6873eaf1154083" /><Relationship Type="http://schemas.openxmlformats.org/officeDocument/2006/relationships/notesMaster" Target="/ppt/notesMasters/notesMaster1.xml" Id="R8474aabd288846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ef4959290d41d2" /><Relationship Type="http://schemas.openxmlformats.org/officeDocument/2006/relationships/notesMaster" Target="/ppt/notesMasters/notesMaster1.xml" Id="Re6a0addd0acb46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3d8602633d49f1" /><Relationship Type="http://schemas.openxmlformats.org/officeDocument/2006/relationships/notesMaster" Target="/ppt/notesMasters/notesMaster1.xml" Id="Rc4977d74d12145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eed03322c749c9" /><Relationship Type="http://schemas.openxmlformats.org/officeDocument/2006/relationships/notesMaster" Target="/ppt/notesMasters/notesMaster1.xml" Id="R295a267692b340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67298a12a54188" /><Relationship Type="http://schemas.openxmlformats.org/officeDocument/2006/relationships/notesMaster" Target="/ppt/notesMasters/notesMaster1.xml" Id="R3271effd9aa84a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本轮受测源码 commit 2087978854a7b091191aba94568418d6730204d3。</a:t>
            </a:r>
          </a:p>
          <a:p xmlns:a="http://schemas.openxmlformats.org/drawingml/2006/main">
            <a:r>
              <a:t>来源：acceptance_delivery_evidence/manifest.json。run_id=delivery_verified_20260924，attempt_id=b4384b62727447fa8941c6e55235660a。</a:t>
            </a:r>
          </a:p>
          <a:p xmlns:a="http://schemas.openxmlformats.org/drawingml/2006/main">
            <a:r>
              <a:t>本稿说明本轮可复核的离线成果，不宣称比赛整体验收完成。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赛题模块映射来源：public_source_candidate/README.md 功能总览。</a:t>
            </a:r>
          </a:p>
          <a:p xmlns:a="http://schemas.openxmlformats.org/drawingml/2006/main">
            <a:r>
              <a:t>截图：frontend_qa/merged-final-smoke/smoke/analysis-1366.png。仅用于展示当前界面，不作为四场景报告数值的替代证据。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来源：public_source_candidate/README.md，05_原型/backend/pharma/reports.py、metrics.py、actions.py；acceptance_delivery_evidence/model_live.json 与 retrieval.json。</a:t>
            </a:r>
          </a:p>
          <a:p xmlns:a="http://schemas.openxmlformats.org/drawingml/2006/main">
            <a:r>
              <a:t>框架回执为 llama-index-core BaseRetriever/TextNode。本轮没有成功的真实模型响应。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_verify/official_independent/independent_official_csv_receipt.json。numeric_checks=2160，max_absolute_error=0，max_relative_error=0，10个上传文件、32项来源规格检查。未提供官方标准答案，核对依据为题包CSV原始单元格的独立Decimal运算。</a:t>
            </a:r>
          </a:p>
          <a:p xmlns:a="http://schemas.openxmlformats.org/drawingml/2006/main">
            <a:r>
              <a:t>截图：frontend_qa/merged-final-smoke/smoke/business-1366.png。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来源：acceptance_delivery_evidence/retrieval.json：四场景 mode=hybrid，recall_status=RECALLED，count=8，status=DEGRADED，整体验收status=FAIL。</a:t>
            </a:r>
          </a:p>
          <a:p xmlns:a="http://schemas.openxmlformats.org/drawingml/2006/main">
            <a:r>
              <a:t>图谱及多模型路由为实现能力，本稿不借历史回执宣称本轮效果。</a:t>
            </a:r>
          </a:p>
          <a:p xmlns:a="http://schemas.openxmlformats.org/drawingml/2006/main">
            <a:r>
              <a:t>截图：frontend_qa/merged-final-smoke/smoke/knowledge-1366.png。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来源：report_visual_final/visual_delivery.json、visual_release.json、delivery_equivalence.json。S1 16页、S2 16页、S3 18页、Q2 16页，共66页。8类视觉问题已修复。</a:t>
            </a:r>
          </a:p>
          <a:p xmlns:a="http://schemas.openxmlformats.org/drawingml/2006/main">
            <a:r>
              <a:t>最终交付与已直接检查的release版本，DOCX所有ZIP内容相同，PDF66页正文及144DPI像素相同。</a:t>
            </a:r>
          </a:p>
          <a:p xmlns:a="http://schemas.openxmlformats.org/drawingml/2006/main">
            <a:r>
              <a:t>开发者视觉QA不是真人0—5分评审，human_review_status=PENDING。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 对标三步法，data_verify/official_independent/independent_official_csv_receipt.json，second_factory_detail=Unavailable in original supplied data; no fabricated detail。</a:t>
            </a:r>
          </a:p>
          <a:p xmlns:a="http://schemas.openxmlformats.org/drawingml/2006/main">
            <a:r>
              <a:t>截图：frontend_qa/merged-final-smoke/smoke/benchmark-1366.png。画面为2026-06六味地黄胶囊，展示对标交互，不替代S3的2026-03场景。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来源：acceptance_delivery_evidence/rpa.json，四场景status=PASS，notification=SIMULATED_SENT，human_acknowledgement=NOT_ENTERED。回执记录confirmed_payload_hash与receipt_sha256。</a:t>
            </a:r>
          </a:p>
          <a:p xmlns:a="http://schemas.openxmlformats.org/drawingml/2006/main">
            <a:r>
              <a:t>截图：frontend_qa/merged-final-smoke/smoke/actions-1366.png。该截图为导航测试的空工作区，4/4结果以正式回执为准。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来源：regression_release.log（601 passed, 1 skipped, 2 warnings）；verification_delivery.log；acceptance_delivery_evidence/manifest.json与browser.json；report_visual_final/visual_delivery.json。</a:t>
            </a:r>
          </a:p>
          <a:p xmlns:a="http://schemas.openxmlformats.org/drawingml/2006/main">
            <a:r>
              <a:t>本页受测版本2087978，离线回归不包含已通过真实模型与向量检索的声明。跳过项原因详见回归日志。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来源：acceptance_delivery_evidence/manifest.json（human_review=PENDING，competition_ready=false），model_live.json（MODEL_KEY_NOT_SET，model_live=false），retrieval.json（DEGRADED）。</a:t>
            </a:r>
          </a:p>
          <a:p xmlns:a="http://schemas.openxmlformats.org/drawingml/2006/main">
            <a:r>
              <a:t>截图：frontend_qa/acceptance_delivery-browser/S1-downloads.png，保留文件打开与计算通过、模型实际参与未通过、真人待评的界面状态。</a:t>
            </a:r>
          </a:p>
          <a:p xmlns:a="http://schemas.openxmlformats.org/drawingml/2006/main">
            <a:r>
              <a:t>提交前需要真实模型与向量回执及真人署名评分。本稿不回填真人分数。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2e5a5c8f3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bae586b85d453c" /><Relationship Type="http://schemas.openxmlformats.org/officeDocument/2006/relationships/slideLayout" Target="/ppt/slideLayouts/slideLayout1.xml" Id="R77e0d7222f194b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0d7222f194b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db902ba024f09" /><Relationship Type="http://schemas.openxmlformats.org/officeDocument/2006/relationships/notesSlide" Target="/ppt/notesSlides/notesSlide1.xml" Id="R3f826fac499f49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462a5c83b47bc" /><Relationship Type="http://schemas.openxmlformats.org/officeDocument/2006/relationships/image" Target="/ppt/media/image.png" Id="R04a0c3844d2e4f6f" /><Relationship Type="http://schemas.openxmlformats.org/officeDocument/2006/relationships/notesSlide" Target="/ppt/notesSlides/notesSlide2.xml" Id="R66ac3ab3460f40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3eaa70ee343dc" /><Relationship Type="http://schemas.openxmlformats.org/officeDocument/2006/relationships/notesSlide" Target="/ppt/notesSlides/notesSlide3.xml" Id="R346ab5344b9b4c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1db7b84542d8" /><Relationship Type="http://schemas.openxmlformats.org/officeDocument/2006/relationships/image" Target="/ppt/media/image2.png" Id="Rc2b456ee7958457f" /><Relationship Type="http://schemas.openxmlformats.org/officeDocument/2006/relationships/notesSlide" Target="/ppt/notesSlides/notesSlide4.xml" Id="R9035ef91e3a74c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1aaece0d2454c" /><Relationship Type="http://schemas.openxmlformats.org/officeDocument/2006/relationships/image" Target="/ppt/media/image3.png" Id="R858a2d877e704dde" /><Relationship Type="http://schemas.openxmlformats.org/officeDocument/2006/relationships/notesSlide" Target="/ppt/notesSlides/notesSlide5.xml" Id="Re9880ad9e9f942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350dd5a064d79" /><Relationship Type="http://schemas.openxmlformats.org/officeDocument/2006/relationships/image" Target="/ppt/media/image4.png" Id="R3cc0cea736124ba2" /><Relationship Type="http://schemas.openxmlformats.org/officeDocument/2006/relationships/notesSlide" Target="/ppt/notesSlides/notesSlide6.xml" Id="R1d17353284f848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c8fb0c5404f03" /><Relationship Type="http://schemas.openxmlformats.org/officeDocument/2006/relationships/image" Target="/ppt/media/image5.png" Id="R4b724471e9d84c81" /><Relationship Type="http://schemas.openxmlformats.org/officeDocument/2006/relationships/notesSlide" Target="/ppt/notesSlides/notesSlide7.xml" Id="R41b6aba725ef4b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1ff4257784288" /><Relationship Type="http://schemas.openxmlformats.org/officeDocument/2006/relationships/image" Target="/ppt/media/image6.png" Id="Rdd5cb6b343a14507" /><Relationship Type="http://schemas.openxmlformats.org/officeDocument/2006/relationships/notesSlide" Target="/ppt/notesSlides/notesSlide8.xml" Id="Re201e3a20a3441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c2e31aa5f4c72" /><Relationship Type="http://schemas.openxmlformats.org/officeDocument/2006/relationships/notesSlide" Target="/ppt/notesSlides/notesSlide9.xml" Id="R7f2bec54e95b49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88d7e9445487e" /><Relationship Type="http://schemas.openxmlformats.org/officeDocument/2006/relationships/image" Target="/ppt/media/image7.png" Id="R6b61a2e5beaa4054" /><Relationship Type="http://schemas.openxmlformats.org/officeDocument/2006/relationships/notesSlide" Target="/ppt/notesSlides/notesSlide10.xml" Id="R4395420b8b024d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E5522-9BCF-4A21-AC8A-F48E656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药衡智析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F0116-C94A-4D40-B856-67D3E8EB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018F-0BE3-4743-ABF4-7C15ADB6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38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产品成本智能分析报告系统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C80E5-805B-4091-AEBD-65B95E4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制药赛题答辩与本轮离线验收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DB3DF-E16E-4647-9FDE-E34DA4D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2026 年 9 月 24 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EDE84-50D2-4B0F-8141-1108CDF2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当前状态：离线链路可复核，真实模型、向量检索和真人评审待验</a:t>
            </a:r>
          </a:p>
        </p:txBody>
      </p:sp>
    </p:spTree>
    <p:extLst>
      <p:ext uri="{BB962C8B-B14F-4D97-AF65-F5344CB8AC3E}">
        <p14:creationId xmlns:p14="http://schemas.microsoft.com/office/powerpoint/2010/main" val="515221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B0A9-6859-4379-8203-B3A60BB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赛题范围与当前工作台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62D5A-CB0A-4C14-8206-32D62E1E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41390-BE7B-4F2E-8756-1AD8A9FA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智能报告：模板生成与双格式导出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7723B-D4C8-4AD5-A610-A90CE886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成本分析：趋势、结构和异常归因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AA339-7B15-418C-957C-1695B3A1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跨厂对标：差异、结构与原因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D8B3B-E10C-430C-9998-CF7D48B2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8957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问题整改：任务确认与模拟送达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0c3844d2e4f6f"/>
          <a:stretch xmlns:a="http://schemas.openxmlformats.org/drawingml/2006/main"/>
        </p:blipFill>
        <p:spPr>
          <a:xfrm xmlns:a="http://schemas.openxmlformats.org/drawingml/2006/main">
            <a:off x="4648200" y="1560671"/>
            <a:ext cx="6934200" cy="38985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29026-1AC0-40E8-8F62-7E19511D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48325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界面示例：六味地黄胶囊 2026-06，单位成本口径</a:t>
            </a:r>
          </a:p>
        </p:txBody>
      </p:sp>
    </p:spTree>
    <p:extLst>
      <p:ext uri="{BB962C8B-B14F-4D97-AF65-F5344CB8AC3E}">
        <p14:creationId xmlns:p14="http://schemas.microsoft.com/office/powerpoint/2010/main" val="128757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D6DA4-8F3B-4BC5-A935-F537E88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实现架构与计算职责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DA625-1DEA-449D-925F-7D8FF00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90700"/>
                <a:gridCol w="3476625"/>
                <a:gridCol w="570547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层次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承担的职责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交互工作台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React + ECharts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数据导入、分析、报告与整改操作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服务与任务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FastAPI + worker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校验输入，执行分析及异步报告任务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数值计算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Decimal 成本引擎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程序计算金额、差异、贡献度与比较口径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证据与解释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LlamaIndex 检索 + 模型网关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追溯文档位置，校验模型解释与证据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文件与行动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Word/PDF + 任务 outbox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保存报告、确认载荷与模拟通知回执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8AE32-7DC0-4D59-9C95-44CE4F03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本轮运行使用规则解释与词法检索降级，数值结果仍由程序计算</a:t>
            </a:r>
          </a:p>
        </p:txBody>
      </p:sp>
    </p:spTree>
    <p:extLst>
      <p:ext uri="{BB962C8B-B14F-4D97-AF65-F5344CB8AC3E}">
        <p14:creationId xmlns:p14="http://schemas.microsoft.com/office/powerpoint/2010/main" val="2031529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5E625-8B3B-41C5-8752-98C22D36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数据口径与独立核对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9A5E7-B997-47D9-832D-816F31FC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D5839-A335-45FE-A3E1-589E3DDE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487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2,160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64561-BC37-4F6F-AC85-84695CC3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8385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项独立数值核对，最大误差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032CE-94E2-4118-9AA6-F5CA2957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直接读取题包 CSV 原始单元格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DFAE2-E242-4221-84E9-A178FA0B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同时核对原题包与累计上传路径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22AFD-2EC2-48DE-BD02-12FF36AB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季度单位成本按产量加权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DB984-E109-4A12-93D1-AAE7F014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缺失数据和零分母保留无定义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456ee7958457f"/>
          <a:stretch xmlns:a="http://schemas.openxmlformats.org/drawingml/2006/main"/>
        </p:blipFill>
        <p:spPr>
          <a:xfrm xmlns:a="http://schemas.openxmlformats.org/drawingml/2006/main">
            <a:off x="4686300" y="1580906"/>
            <a:ext cx="6896100" cy="387716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21138-0AC1-4846-83D7-323B0C00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29275"/>
            <a:ext cx="689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独立复算覆盖 4 场景、单位与总额口径</a:t>
            </a:r>
          </a:p>
        </p:txBody>
      </p:sp>
    </p:spTree>
    <p:extLst>
      <p:ext uri="{BB962C8B-B14F-4D97-AF65-F5344CB8AC3E}">
        <p14:creationId xmlns:p14="http://schemas.microsoft.com/office/powerpoint/2010/main" val="318496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CDA7A-0D8C-4385-A20D-68102D34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RAG 证据与本轮检索状态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B347A-5421-455E-8C6F-AD2F0F1C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B4D8B-63A4-4645-A7BF-F4AB01A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引用保留文档名、章节与页码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1B39A-C6A4-4A25-A93D-CF10AC08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四个场景各召回 8 条候选证据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162D0-E933-49EA-83CA-55B2E7F1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候选召回后再核对产品与期间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53431-B247-409A-A678-8745458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当前缺本地向量模型配置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693E4-0DD3-4854-A81A-BF2A03EA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39909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混合检索回执为 DEGRADED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a2d877e704dde"/>
          <a:stretch xmlns:a="http://schemas.openxmlformats.org/drawingml/2006/main"/>
        </p:blipFill>
        <p:spPr>
          <a:xfrm xmlns:a="http://schemas.openxmlformats.org/drawingml/2006/main">
            <a:off x="4791075" y="1577022"/>
            <a:ext cx="6791325" cy="38182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04D95-0EE8-4C70-A083-C81A5C8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10225"/>
            <a:ext cx="6791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真实向量检索与重排效果仍需补验</a:t>
            </a:r>
          </a:p>
        </p:txBody>
      </p:sp>
    </p:spTree>
    <p:extLst>
      <p:ext uri="{BB962C8B-B14F-4D97-AF65-F5344CB8AC3E}">
        <p14:creationId xmlns:p14="http://schemas.microsoft.com/office/powerpoint/2010/main" val="693339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B1609-6B6A-4DEC-8711-E1AA09CB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模板报告与导出质量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BC035-7F9B-49E1-863C-3E1B363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4C2B-3871-4272-9EFB-DD51AE27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4 个场景生成 8 份 Word/PDF 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2F51D-820B-4758-9E22-253626E3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保留封面、文档控制、阅读指南和水印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9DBE9-8FB3-4252-9E7A-1696F6FC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66 页完成开发者逐页视觉检查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0547F-69DB-4CA7-8EB7-9EDCF374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已修复孤立标题、断图题和文本截断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B7BF-47C5-4D24-9788-31E5244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681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负向图标签、季度口径和表格分页已核对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0cea736124ba2"/>
          <a:stretch xmlns:a="http://schemas.openxmlformats.org/drawingml/2006/main"/>
        </p:blipFill>
        <p:spPr>
          <a:xfrm xmlns:a="http://schemas.openxmlformats.org/drawingml/2006/main">
            <a:off x="8087129" y="1314450"/>
            <a:ext cx="3361516" cy="47529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A6096-A0FF-4D4E-9129-D773DFAE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086475"/>
            <a:ext cx="3362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报告实页</a:t>
            </a:r>
          </a:p>
        </p:txBody>
      </p:sp>
    </p:spTree>
    <p:extLst>
      <p:ext uri="{BB962C8B-B14F-4D97-AF65-F5344CB8AC3E}">
        <p14:creationId xmlns:p14="http://schemas.microsoft.com/office/powerpoint/2010/main" val="4765837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1B358-5B51-421C-BF49-3AA6625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跨厂对标三步法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682F0-9E02-48AE-AEAA-77B7641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CEA73-6B52-4875-9BBF-97B93586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0290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差异总览：确认比较双方与分母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B2866-658B-4152-94BB-2B25CB1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0290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结构拆解：分离材料、人工和制造费用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CD8E-06D6-4381-9AC5-CA62636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0290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原因核查：回到批次、工时与分摊证据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0901D-E201-4288-B400-563E096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019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题包缺少二厂原料明细，界面与报告保留缺证说明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24471e9d84c81"/>
          <a:stretch xmlns:a="http://schemas.openxmlformats.org/drawingml/2006/main"/>
        </p:blipFill>
        <p:spPr>
          <a:xfrm xmlns:a="http://schemas.openxmlformats.org/drawingml/2006/main">
            <a:off x="4800600" y="1589225"/>
            <a:ext cx="6781800" cy="381290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5BC9C-54E4-43C6-AA1C-8E1ACA5E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38800"/>
            <a:ext cx="6781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差额与差异率使用相同产品、规格和期间</a:t>
            </a:r>
          </a:p>
        </p:txBody>
      </p:sp>
    </p:spTree>
    <p:extLst>
      <p:ext uri="{BB962C8B-B14F-4D97-AF65-F5344CB8AC3E}">
        <p14:creationId xmlns:p14="http://schemas.microsoft.com/office/powerpoint/2010/main" val="1009380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B9ED7-3799-4339-A5E0-EB34FA9F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整改任务与模拟 RPA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9D8CF-BC49-4E4B-933E-D83C083E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DF036-A72B-4AF2-B040-B4DE83DD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905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4725" b="1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2F593-E63A-4833-814C-AFB23BC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场景模拟送达通过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E1896-DE13-4ADF-A539-04B37192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报告建议转为结构化任务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6E699-D7EE-4886-BA42-24AA77E9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用户确认负责人、行动与收件人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37D62-3EE9-4921-9029-C3E1934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按确认载荷核对通知回执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87434-1856-40C0-BD73-F9815E22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057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责任人确认与整改完成仍待实际登记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cb6b343a14507"/>
          <a:stretch xmlns:a="http://schemas.openxmlformats.org/drawingml/2006/main"/>
        </p:blipFill>
        <p:spPr>
          <a:xfrm xmlns:a="http://schemas.openxmlformats.org/drawingml/2006/main">
            <a:off x="4876800" y="1615408"/>
            <a:ext cx="6705600" cy="37700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8C9E9-4881-495B-90CA-4BA1742A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38800"/>
            <a:ext cx="670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操作入口示例，4/4 结果见本轮模拟回执</a:t>
            </a:r>
          </a:p>
        </p:txBody>
      </p:sp>
    </p:spTree>
    <p:extLst>
      <p:ext uri="{BB962C8B-B14F-4D97-AF65-F5344CB8AC3E}">
        <p14:creationId xmlns:p14="http://schemas.microsoft.com/office/powerpoint/2010/main" val="608976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C7741-3CE1-4F08-AB1E-81F10B43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本轮实测结果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4E1E9-1FAE-4EFC-8DCE-796FE16F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939CD-59A1-4495-B227-1E1CBAAB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601 项通过，1 项跳过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763BB-A39A-491B-869D-C274100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2875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浏览器完成 4 场景、8 次文件下载核验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3114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2933700"/>
                <a:gridCol w="3295650"/>
                <a:gridCol w="2171700"/>
                <a:gridCol w="1428750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场景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期间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Word/PDF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4F6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页数</a:t>
                      </a:r>
                    </a:p>
                  </a:txBody>
                  <a:tcPr marL="123825" marR="123825" marT="95250" marB="76200" anchor="ctr">
                    <a:solidFill>
                      <a:srgbClr val="DCE8E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S1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银黄口服液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2026-05 月度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S2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板蓝根颗粒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2026-05 专项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S3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六味地黄胶囊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2026-03 月度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Q2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银黄口服液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2026-04 至 06 季度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均通过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53F4D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</a:t>
                      </a:r>
                    </a:p>
                  </a:txBody>
                  <a:tcPr marL="123825" marR="123825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CA519-0C02-400E-9480-9AD89DD1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四场景解释均为规则降级。文件通过与真人评审、模型效果分别验收</a:t>
            </a:r>
          </a:p>
        </p:txBody>
      </p:sp>
    </p:spTree>
    <p:extLst>
      <p:ext uri="{BB962C8B-B14F-4D97-AF65-F5344CB8AC3E}">
        <p14:creationId xmlns:p14="http://schemas.microsoft.com/office/powerpoint/2010/main" val="1546224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7EF8A-5A95-4A52-825C-ABEEAF4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69752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待验事项与现场演示顺序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27382-5129-4E3D-827D-2BE92C2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6975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药衡智析  本轮受测 2087978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0F1D5-9135-4B0D-A81A-298AB0C3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752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真实模型：补配置并验证身份与解释覆盖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112C3-884B-4D48-A7FB-EFD54B7B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4752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向量检索：加载本地模型后重跑四场景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34AEF-F8D2-405E-9365-DCFEB26C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752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53F4D"/>
                </a:solidFill>
                <a:latin typeface="Noto Sans SC"/>
                <a:ea typeface="Noto Sans SC"/>
                <a:cs typeface="Noto Sans SC"/>
              </a:rPr>
              <a:t>真人评审：专业归因、可读性和版式待评分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4E95F-F32E-496E-84FB-EAEFD72C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7529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现场顺序</a:t>
            </a:r>
          </a:p>
          <a:p xmlns:a="http://schemas.openxmlformats.org/drawingml/2006/main">
            <a:pPr>
              <a:def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4F63"/>
                </a:solidFill>
                <a:latin typeface="Noto Sans SC"/>
                <a:ea typeface="Noto Sans SC"/>
                <a:cs typeface="Noto Sans SC"/>
              </a:rPr>
              <a:t>选择场景，核对指标和来源，下载报告，确认模拟任务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1a2e5beaa4054"/>
          <a:stretch xmlns:a="http://schemas.openxmlformats.org/drawingml/2006/main"/>
        </p:blipFill>
        <p:spPr>
          <a:xfrm xmlns:a="http://schemas.openxmlformats.org/drawingml/2006/main">
            <a:off x="5600700" y="1790330"/>
            <a:ext cx="5981700" cy="33630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BB0B-0AF2-40F8-BDD1-3714319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48325"/>
            <a:ext cx="598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B7886"/>
                </a:solidFill>
                <a:latin typeface="Noto Sans SC"/>
                <a:ea typeface="Noto Sans SC"/>
                <a:cs typeface="Noto Sans SC"/>
              </a:rPr>
              <a:t>当前比赛整体验收尚未通过</a:t>
            </a:r>
          </a:p>
        </p:txBody>
      </p:sp>
    </p:spTree>
    <p:extLst>
      <p:ext uri="{BB962C8B-B14F-4D97-AF65-F5344CB8AC3E}">
        <p14:creationId xmlns:p14="http://schemas.microsoft.com/office/powerpoint/2010/main" val="1925271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2026-09-24T13:31:59.8350000Z</dcterms:created>
  <dcterms:modified xsi:type="dcterms:W3CDTF">2026-09-24T13:31:59.8350000Z</dcterms:modified>
</coreProperties>
</file>